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Lst>
  <p:sldSz cy="6858000" cx="12192000"/>
  <p:notesSz cx="6858000" cy="9144000"/>
  <p:embeddedFontLst>
    <p:embeddedFont>
      <p:font typeface="Inter SemiBold"/>
      <p:regular r:id="rId14"/>
      <p:bold r:id="rId15"/>
      <p:italic r:id="rId16"/>
      <p:boldItalic r:id="rId17"/>
    </p:embeddedFont>
    <p:embeddedFont>
      <p:font typeface="Inter"/>
      <p:regular r:id="rId18"/>
      <p:bold r:id="rId19"/>
      <p:italic r:id="rId20"/>
      <p:boldItalic r:id="rId21"/>
    </p:embeddedFont>
    <p:embeddedFont>
      <p:font typeface="Space Grotesk SemiBold"/>
      <p:regular r:id="rId22"/>
      <p:bold r:id="rId23"/>
    </p:embeddedFont>
    <p:embeddedFont>
      <p:font typeface="Space Grotesk"/>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457A15-1B19-4E13-B312-4F9E11C3CB96}">
  <a:tblStyle styleId="{57457A15-1B19-4E13-B312-4F9E11C3CB9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italic.fntdata"/><Relationship Id="rId22" Type="http://schemas.openxmlformats.org/officeDocument/2006/relationships/font" Target="fonts/SpaceGroteskSemiBold-regular.fntdata"/><Relationship Id="rId21" Type="http://schemas.openxmlformats.org/officeDocument/2006/relationships/font" Target="fonts/Inter-boldItalic.fntdata"/><Relationship Id="rId24" Type="http://schemas.openxmlformats.org/officeDocument/2006/relationships/font" Target="fonts/SpaceGrotesk-regular.fntdata"/><Relationship Id="rId23" Type="http://schemas.openxmlformats.org/officeDocument/2006/relationships/font" Target="fonts/SpaceGroteskSemi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font" Target="fonts/SpaceGrotesk-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InterSemiBold-bold.fntdata"/><Relationship Id="rId14" Type="http://schemas.openxmlformats.org/officeDocument/2006/relationships/font" Target="fonts/InterSemiBold-regular.fntdata"/><Relationship Id="rId17" Type="http://schemas.openxmlformats.org/officeDocument/2006/relationships/font" Target="fonts/InterSemiBold-boldItalic.fntdata"/><Relationship Id="rId16" Type="http://schemas.openxmlformats.org/officeDocument/2006/relationships/font" Target="fonts/InterSemiBold-italic.fntdata"/><Relationship Id="rId19" Type="http://schemas.openxmlformats.org/officeDocument/2006/relationships/font" Target="fonts/Inter-bold.fntdata"/><Relationship Id="rId18" Type="http://schemas.openxmlformats.org/officeDocument/2006/relationships/font" Target="fonts/Inter-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2.png"/><Relationship Id="rId9"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3.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hyperlink" Target="https://github.com/myhish/nse-sector-rotation-dashboard/blob/main/Sector%20Rotation%20Dashboard.pbix" TargetMode="External"/><Relationship Id="rId5"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B"/>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952500" y="2136576"/>
            <a:ext cx="3200400" cy="295275"/>
          </a:xfrm>
          <a:prstGeom prst="rect">
            <a:avLst/>
          </a:prstGeom>
          <a:noFill/>
          <a:ln>
            <a:noFill/>
          </a:ln>
        </p:spPr>
      </p:pic>
      <p:sp>
        <p:nvSpPr>
          <p:cNvPr id="86" name="Google Shape;86;p13"/>
          <p:cNvSpPr txBox="1"/>
          <p:nvPr/>
        </p:nvSpPr>
        <p:spPr>
          <a:xfrm>
            <a:off x="952500" y="2660451"/>
            <a:ext cx="5795255" cy="1298971"/>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650" u="none" cap="none" strike="noStrike">
                <a:solidFill>
                  <a:srgbClr val="FFFFFF"/>
                </a:solidFill>
                <a:latin typeface="Space Grotesk"/>
                <a:ea typeface="Space Grotesk"/>
                <a:cs typeface="Space Grotesk"/>
                <a:sym typeface="Space Grotesk"/>
              </a:rPr>
              <a:t>NSE Sector Rotation</a:t>
            </a:r>
            <a:br>
              <a:rPr b="0" i="0" lang="en-US" sz="1800" u="none" cap="none" strike="noStrike">
                <a:solidFill>
                  <a:schemeClr val="dk1"/>
                </a:solidFill>
                <a:latin typeface="Calibri"/>
                <a:ea typeface="Calibri"/>
                <a:cs typeface="Calibri"/>
                <a:sym typeface="Calibri"/>
              </a:rPr>
            </a:br>
            <a:r>
              <a:rPr b="1" i="0" lang="en-US" sz="4650" u="none" cap="none" strike="noStrike">
                <a:solidFill>
                  <a:srgbClr val="48CAE4"/>
                </a:solidFill>
                <a:latin typeface="Space Grotesk"/>
                <a:ea typeface="Space Grotesk"/>
                <a:cs typeface="Space Grotesk"/>
                <a:sym typeface="Space Grotesk"/>
              </a:rPr>
              <a:t>Allocation Engine</a:t>
            </a:r>
            <a:endParaRPr/>
          </a:p>
        </p:txBody>
      </p:sp>
      <p:sp>
        <p:nvSpPr>
          <p:cNvPr id="87" name="Google Shape;87;p13"/>
          <p:cNvSpPr txBox="1"/>
          <p:nvPr/>
        </p:nvSpPr>
        <p:spPr>
          <a:xfrm>
            <a:off x="952500" y="4149923"/>
            <a:ext cx="76200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Inter"/>
                <a:ea typeface="Inter"/>
                <a:cs typeface="Inter"/>
                <a:sym typeface="Inter"/>
              </a:rPr>
              <a:t>A quantitative tactical allocation framework tracking cross-sectional momentum and historical macroeconomic catalysts across the Indian equity markets.</a:t>
            </a:r>
            <a:endParaRPr/>
          </a:p>
        </p:txBody>
      </p:sp>
      <p:pic>
        <p:nvPicPr>
          <p:cNvPr descr="add a subtle ups and downs of the market i the background" id="88" name="Google Shape;88;p13"/>
          <p:cNvPicPr preferRelativeResize="0"/>
          <p:nvPr/>
        </p:nvPicPr>
        <p:blipFill>
          <a:blip r:embed="rId5">
            <a:alphaModFix/>
          </a:blip>
          <a:stretch>
            <a:fillRect/>
          </a:stretch>
        </p:blipFill>
        <p:spPr>
          <a:xfrm>
            <a:off x="0" y="32050"/>
            <a:ext cx="12192000" cy="678657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B"/>
        </a:solidFill>
      </p:bgPr>
    </p:bg>
    <p:spTree>
      <p:nvGrpSpPr>
        <p:cNvPr id="92" name="Shape 92"/>
        <p:cNvGrpSpPr/>
        <p:nvPr/>
      </p:nvGrpSpPr>
      <p:grpSpPr>
        <a:xfrm>
          <a:off x="0" y="0"/>
          <a:ext cx="0" cy="0"/>
          <a:chOff x="0" y="0"/>
          <a:chExt cx="0" cy="0"/>
        </a:xfrm>
      </p:grpSpPr>
      <p:pic>
        <p:nvPicPr>
          <p:cNvPr descr="image.png" id="93" name="Google Shape;93;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4" name="Google Shape;94;p14"/>
          <p:cNvPicPr preferRelativeResize="0"/>
          <p:nvPr/>
        </p:nvPicPr>
        <p:blipFill rotWithShape="1">
          <a:blip r:embed="rId4">
            <a:alphaModFix/>
          </a:blip>
          <a:srcRect b="0" l="0" r="0" t="0"/>
          <a:stretch/>
        </p:blipFill>
        <p:spPr>
          <a:xfrm>
            <a:off x="571500" y="2328118"/>
            <a:ext cx="5334000" cy="2944713"/>
          </a:xfrm>
          <a:prstGeom prst="rect">
            <a:avLst/>
          </a:prstGeom>
          <a:noFill/>
          <a:ln>
            <a:noFill/>
          </a:ln>
        </p:spPr>
      </p:pic>
      <p:pic>
        <p:nvPicPr>
          <p:cNvPr descr="image.png" id="95" name="Google Shape;95;p14"/>
          <p:cNvPicPr preferRelativeResize="0"/>
          <p:nvPr/>
        </p:nvPicPr>
        <p:blipFill rotWithShape="1">
          <a:blip r:embed="rId5">
            <a:alphaModFix/>
          </a:blip>
          <a:srcRect b="0" l="0" r="0" t="0"/>
          <a:stretch/>
        </p:blipFill>
        <p:spPr>
          <a:xfrm>
            <a:off x="6286500" y="2328118"/>
            <a:ext cx="5334000" cy="2944713"/>
          </a:xfrm>
          <a:prstGeom prst="rect">
            <a:avLst/>
          </a:prstGeom>
          <a:noFill/>
          <a:ln>
            <a:noFill/>
          </a:ln>
        </p:spPr>
      </p:pic>
      <p:sp>
        <p:nvSpPr>
          <p:cNvPr id="96" name="Google Shape;96;p14"/>
          <p:cNvSpPr txBox="1"/>
          <p:nvPr/>
        </p:nvSpPr>
        <p:spPr>
          <a:xfrm>
            <a:off x="914400" y="2671018"/>
            <a:ext cx="4880610"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48CAE4"/>
                </a:solidFill>
                <a:latin typeface="Space Grotesk SemiBold"/>
                <a:ea typeface="Space Grotesk SemiBold"/>
                <a:cs typeface="Space Grotesk SemiBold"/>
                <a:sym typeface="Space Grotesk SemiBold"/>
              </a:rPr>
              <a:t>The Retail Problem</a:t>
            </a:r>
            <a:endParaRPr/>
          </a:p>
        </p:txBody>
      </p:sp>
      <p:sp>
        <p:nvSpPr>
          <p:cNvPr id="97" name="Google Shape;97;p14"/>
          <p:cNvSpPr txBox="1"/>
          <p:nvPr/>
        </p:nvSpPr>
        <p:spPr>
          <a:xfrm>
            <a:off x="914400" y="3080593"/>
            <a:ext cx="464820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Most retail investors lose performance edge by over-analyzing single stock micro-fundamentals while remaining completely blind to massive, structural institutional sector-level capital flows.</a:t>
            </a:r>
            <a:endParaRPr/>
          </a:p>
        </p:txBody>
      </p:sp>
      <p:sp>
        <p:nvSpPr>
          <p:cNvPr id="98" name="Google Shape;98;p14"/>
          <p:cNvSpPr txBox="1"/>
          <p:nvPr/>
        </p:nvSpPr>
        <p:spPr>
          <a:xfrm>
            <a:off x="914400" y="4198590"/>
            <a:ext cx="464820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Without a systematic macro tracker, investors consistently buy at the peak of distribution cycles and exit during critical accumulation phases.</a:t>
            </a:r>
            <a:endParaRPr/>
          </a:p>
        </p:txBody>
      </p:sp>
      <p:sp>
        <p:nvSpPr>
          <p:cNvPr id="99" name="Google Shape;99;p14"/>
          <p:cNvSpPr txBox="1"/>
          <p:nvPr/>
        </p:nvSpPr>
        <p:spPr>
          <a:xfrm>
            <a:off x="6629400" y="2671018"/>
            <a:ext cx="4880610"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48CAE4"/>
                </a:solidFill>
                <a:latin typeface="Space Grotesk SemiBold"/>
                <a:ea typeface="Space Grotesk SemiBold"/>
                <a:cs typeface="Space Grotesk SemiBold"/>
                <a:sym typeface="Space Grotesk SemiBold"/>
              </a:rPr>
              <a:t>The Quantitative Engine</a:t>
            </a:r>
            <a:endParaRPr/>
          </a:p>
        </p:txBody>
      </p:sp>
      <p:sp>
        <p:nvSpPr>
          <p:cNvPr id="100" name="Google Shape;100;p14"/>
          <p:cNvSpPr txBox="1"/>
          <p:nvPr/>
        </p:nvSpPr>
        <p:spPr>
          <a:xfrm>
            <a:off x="6629400" y="3080593"/>
            <a:ext cx="4648200" cy="73134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This project resolves macro blindspots by tracking cross-sectional market momentum. It translates raw pricing, velocity, and volume data into a clear tactical asset allocation playbook.</a:t>
            </a:r>
            <a:endParaRPr/>
          </a:p>
        </p:txBody>
      </p:sp>
      <p:sp>
        <p:nvSpPr>
          <p:cNvPr id="101" name="Google Shape;101;p14"/>
          <p:cNvSpPr txBox="1"/>
          <p:nvPr/>
        </p:nvSpPr>
        <p:spPr>
          <a:xfrm>
            <a:off x="6629400" y="4273399"/>
            <a:ext cx="4648200" cy="77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By tre</a:t>
            </a:r>
            <a:r>
              <a:rPr b="0" i="0" lang="en-US" sz="1200" u="none" cap="none" strike="noStrike">
                <a:solidFill>
                  <a:srgbClr val="94A3B8"/>
                </a:solidFill>
                <a:latin typeface="Inter"/>
                <a:ea typeface="Inter"/>
                <a:cs typeface="Inter"/>
                <a:sym typeface="Inter"/>
              </a:rPr>
              <a:t>at</a:t>
            </a:r>
            <a:r>
              <a:rPr b="0" i="0" lang="en-US" sz="1200" u="none" cap="none" strike="noStrike">
                <a:solidFill>
                  <a:srgbClr val="94A3B8"/>
                </a:solidFill>
                <a:latin typeface="Inter"/>
                <a:ea typeface="Inter"/>
                <a:cs typeface="Inter"/>
                <a:sym typeface="Inter"/>
              </a:rPr>
              <a:t>ing sect</a:t>
            </a:r>
            <a:r>
              <a:rPr b="0" i="0" lang="en-US" sz="1200" u="none" cap="none" strike="noStrike">
                <a:solidFill>
                  <a:srgbClr val="94A3B8"/>
                </a:solidFill>
                <a:latin typeface="Inter"/>
                <a:ea typeface="Inter"/>
                <a:cs typeface="Inter"/>
                <a:sym typeface="Inter"/>
              </a:rPr>
              <a:t>or shifts as structural cycles, the framework actively captures the ocean currents of institutional liquidity on the NSE India.</a:t>
            </a:r>
            <a:endParaRPr/>
          </a:p>
        </p:txBody>
      </p:sp>
      <p:sp>
        <p:nvSpPr>
          <p:cNvPr id="102" name="Google Shape;102;p14"/>
          <p:cNvSpPr txBox="1"/>
          <p:nvPr/>
        </p:nvSpPr>
        <p:spPr>
          <a:xfrm>
            <a:off x="762000" y="571500"/>
            <a:ext cx="11401425"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FFFFF"/>
                </a:solidFill>
                <a:latin typeface="Space Grotesk"/>
                <a:ea typeface="Space Grotesk"/>
                <a:cs typeface="Space Grotesk"/>
                <a:sym typeface="Space Grotesk"/>
              </a:rPr>
              <a:t>The Strategic Rotation Gap</a:t>
            </a:r>
            <a:endParaRPr/>
          </a:p>
        </p:txBody>
      </p:sp>
      <p:sp>
        <p:nvSpPr>
          <p:cNvPr id="103" name="Google Shape;103;p14"/>
          <p:cNvSpPr/>
          <p:nvPr/>
        </p:nvSpPr>
        <p:spPr>
          <a:xfrm>
            <a:off x="571500" y="571500"/>
            <a:ext cx="47625" cy="457200"/>
          </a:xfrm>
          <a:prstGeom prst="rect">
            <a:avLst/>
          </a:prstGeom>
          <a:solidFill>
            <a:srgbClr val="48CA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B"/>
        </a:solidFill>
      </p:bgPr>
    </p:bg>
    <p:spTree>
      <p:nvGrpSpPr>
        <p:cNvPr id="107" name="Shape 107"/>
        <p:cNvGrpSpPr/>
        <p:nvPr/>
      </p:nvGrpSpPr>
      <p:grpSpPr>
        <a:xfrm>
          <a:off x="0" y="0"/>
          <a:ext cx="0" cy="0"/>
          <a:chOff x="0" y="0"/>
          <a:chExt cx="0" cy="0"/>
        </a:xfrm>
      </p:grpSpPr>
      <p:pic>
        <p:nvPicPr>
          <p:cNvPr descr="image.png" id="108" name="Google Shape;108;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9" name="Google Shape;109;p15"/>
          <p:cNvPicPr preferRelativeResize="0"/>
          <p:nvPr/>
        </p:nvPicPr>
        <p:blipFill rotWithShape="1">
          <a:blip r:embed="rId4">
            <a:alphaModFix/>
          </a:blip>
          <a:srcRect b="0" l="0" r="0" t="0"/>
          <a:stretch/>
        </p:blipFill>
        <p:spPr>
          <a:xfrm>
            <a:off x="571500" y="4643288"/>
            <a:ext cx="11049000" cy="485775"/>
          </a:xfrm>
          <a:prstGeom prst="rect">
            <a:avLst/>
          </a:prstGeom>
          <a:noFill/>
          <a:ln>
            <a:noFill/>
          </a:ln>
        </p:spPr>
      </p:pic>
      <p:pic>
        <p:nvPicPr>
          <p:cNvPr descr="image.png" id="110" name="Google Shape;110;p15"/>
          <p:cNvPicPr preferRelativeResize="0"/>
          <p:nvPr/>
        </p:nvPicPr>
        <p:blipFill rotWithShape="1">
          <a:blip r:embed="rId5">
            <a:alphaModFix/>
          </a:blip>
          <a:srcRect b="0" l="0" r="0" t="0"/>
          <a:stretch/>
        </p:blipFill>
        <p:spPr>
          <a:xfrm>
            <a:off x="2739479" y="4795688"/>
            <a:ext cx="6713041" cy="180975"/>
          </a:xfrm>
          <a:prstGeom prst="rect">
            <a:avLst/>
          </a:prstGeom>
          <a:noFill/>
          <a:ln>
            <a:noFill/>
          </a:ln>
        </p:spPr>
      </p:pic>
      <p:sp>
        <p:nvSpPr>
          <p:cNvPr id="111" name="Google Shape;111;p15"/>
          <p:cNvSpPr txBox="1"/>
          <p:nvPr/>
        </p:nvSpPr>
        <p:spPr>
          <a:xfrm>
            <a:off x="1000125" y="2471886"/>
            <a:ext cx="4976812" cy="7999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FFFFF"/>
                </a:solidFill>
                <a:latin typeface="Inter SemiBold"/>
                <a:ea typeface="Inter SemiBold"/>
                <a:cs typeface="Inter SemiBold"/>
                <a:sym typeface="Inter SemiBold"/>
              </a:rPr>
              <a:t>Cross-Sectional Momentum Rating</a:t>
            </a:r>
            <a:r>
              <a:rPr b="0" i="0" lang="en-US" sz="1200" u="none" cap="none" strike="noStrike">
                <a:solidFill>
                  <a:srgbClr val="94A3B8"/>
                </a:solidFill>
                <a:latin typeface="Inter"/>
                <a:ea typeface="Inter"/>
                <a:cs typeface="Inter"/>
                <a:sym typeface="Inter"/>
              </a:rPr>
              <a:t> Calculates short-to-medium term structural velocity based on relative strength metrics rather than isolated price movements.</a:t>
            </a:r>
            <a:endParaRPr/>
          </a:p>
        </p:txBody>
      </p:sp>
      <p:sp>
        <p:nvSpPr>
          <p:cNvPr id="112" name="Google Shape;112;p15"/>
          <p:cNvSpPr txBox="1"/>
          <p:nvPr/>
        </p:nvSpPr>
        <p:spPr>
          <a:xfrm>
            <a:off x="6643687" y="2471886"/>
            <a:ext cx="4976812" cy="7999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FFFFF"/>
                </a:solidFill>
                <a:latin typeface="Inter SemiBold"/>
                <a:ea typeface="Inter SemiBold"/>
                <a:cs typeface="Inter SemiBold"/>
                <a:sym typeface="Inter SemiBold"/>
              </a:rPr>
              <a:t>Velocity &amp; Volume Convergence</a:t>
            </a:r>
            <a:r>
              <a:rPr b="0" i="0" lang="en-US" sz="1200" u="none" cap="none" strike="noStrike">
                <a:solidFill>
                  <a:srgbClr val="94A3B8"/>
                </a:solidFill>
                <a:latin typeface="Inter"/>
                <a:ea typeface="Inter"/>
                <a:cs typeface="Inter"/>
                <a:sym typeface="Inter"/>
              </a:rPr>
              <a:t> Tracks institutional footprints by ensuring price acceleration is systematically backed by above-average transaction volumes.</a:t>
            </a:r>
            <a:endParaRPr/>
          </a:p>
        </p:txBody>
      </p:sp>
      <p:sp>
        <p:nvSpPr>
          <p:cNvPr id="113" name="Google Shape;113;p15"/>
          <p:cNvSpPr txBox="1"/>
          <p:nvPr/>
        </p:nvSpPr>
        <p:spPr>
          <a:xfrm>
            <a:off x="1000125" y="3605212"/>
            <a:ext cx="4976812" cy="7999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FFFFF"/>
                </a:solidFill>
                <a:latin typeface="Inter SemiBold"/>
                <a:ea typeface="Inter SemiBold"/>
                <a:cs typeface="Inter SemiBold"/>
                <a:sym typeface="Inter SemiBold"/>
              </a:rPr>
              <a:t>Catalyst Overlay Modeling</a:t>
            </a:r>
            <a:r>
              <a:rPr b="0" i="0" lang="en-US" sz="1200" u="none" cap="none" strike="noStrike">
                <a:solidFill>
                  <a:srgbClr val="94A3B8"/>
                </a:solidFill>
                <a:latin typeface="Inter"/>
                <a:ea typeface="Inter"/>
                <a:cs typeface="Inter"/>
                <a:sym typeface="Inter"/>
              </a:rPr>
              <a:t> Overlays major macroeconomic announcements (e.g., Union Budgets, RBI decisions) on forward return performance profiles.</a:t>
            </a:r>
            <a:endParaRPr/>
          </a:p>
        </p:txBody>
      </p:sp>
      <p:sp>
        <p:nvSpPr>
          <p:cNvPr id="114" name="Google Shape;114;p15"/>
          <p:cNvSpPr txBox="1"/>
          <p:nvPr/>
        </p:nvSpPr>
        <p:spPr>
          <a:xfrm>
            <a:off x="6643687" y="3605212"/>
            <a:ext cx="4976812" cy="7999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FFFFF"/>
                </a:solidFill>
                <a:latin typeface="Inter SemiBold"/>
                <a:ea typeface="Inter SemiBold"/>
                <a:cs typeface="Inter SemiBold"/>
                <a:sym typeface="Inter SemiBold"/>
              </a:rPr>
              <a:t>Automated Compositing Schema</a:t>
            </a:r>
            <a:r>
              <a:rPr b="0" i="0" lang="en-US" sz="1200" u="none" cap="none" strike="noStrike">
                <a:solidFill>
                  <a:srgbClr val="94A3B8"/>
                </a:solidFill>
                <a:latin typeface="Inter"/>
                <a:ea typeface="Inter"/>
                <a:cs typeface="Inter"/>
                <a:sym typeface="Inter"/>
              </a:rPr>
              <a:t> Multi-factor weighting logic compiled cleanly in dynamic DAX calculations for scalable dashboard visualization.</a:t>
            </a:r>
            <a:endParaRPr/>
          </a:p>
        </p:txBody>
      </p:sp>
      <p:pic>
        <p:nvPicPr>
          <p:cNvPr descr="image.png" id="115" name="Google Shape;115;p15"/>
          <p:cNvPicPr preferRelativeResize="0"/>
          <p:nvPr/>
        </p:nvPicPr>
        <p:blipFill rotWithShape="1">
          <a:blip r:embed="rId6">
            <a:alphaModFix/>
          </a:blip>
          <a:srcRect b="0" l="0" r="0" t="0"/>
          <a:stretch/>
        </p:blipFill>
        <p:spPr>
          <a:xfrm>
            <a:off x="571500" y="2505223"/>
            <a:ext cx="209550" cy="219075"/>
          </a:xfrm>
          <a:prstGeom prst="rect">
            <a:avLst/>
          </a:prstGeom>
          <a:noFill/>
          <a:ln>
            <a:noFill/>
          </a:ln>
        </p:spPr>
      </p:pic>
      <p:pic>
        <p:nvPicPr>
          <p:cNvPr descr="image.png" id="116" name="Google Shape;116;p15"/>
          <p:cNvPicPr preferRelativeResize="0"/>
          <p:nvPr/>
        </p:nvPicPr>
        <p:blipFill rotWithShape="1">
          <a:blip r:embed="rId7">
            <a:alphaModFix/>
          </a:blip>
          <a:srcRect b="0" l="0" r="0" t="0"/>
          <a:stretch/>
        </p:blipFill>
        <p:spPr>
          <a:xfrm>
            <a:off x="6215062" y="2505223"/>
            <a:ext cx="209550" cy="219075"/>
          </a:xfrm>
          <a:prstGeom prst="rect">
            <a:avLst/>
          </a:prstGeom>
          <a:noFill/>
          <a:ln>
            <a:noFill/>
          </a:ln>
        </p:spPr>
      </p:pic>
      <p:pic>
        <p:nvPicPr>
          <p:cNvPr descr="image.png" id="117" name="Google Shape;117;p15"/>
          <p:cNvPicPr preferRelativeResize="0"/>
          <p:nvPr/>
        </p:nvPicPr>
        <p:blipFill rotWithShape="1">
          <a:blip r:embed="rId8">
            <a:alphaModFix/>
          </a:blip>
          <a:srcRect b="0" l="0" r="0" t="0"/>
          <a:stretch/>
        </p:blipFill>
        <p:spPr>
          <a:xfrm>
            <a:off x="571500" y="3638550"/>
            <a:ext cx="180975" cy="219075"/>
          </a:xfrm>
          <a:prstGeom prst="rect">
            <a:avLst/>
          </a:prstGeom>
          <a:noFill/>
          <a:ln>
            <a:noFill/>
          </a:ln>
        </p:spPr>
      </p:pic>
      <p:pic>
        <p:nvPicPr>
          <p:cNvPr descr="image.png" id="118" name="Google Shape;118;p15"/>
          <p:cNvPicPr preferRelativeResize="0"/>
          <p:nvPr/>
        </p:nvPicPr>
        <p:blipFill rotWithShape="1">
          <a:blip r:embed="rId9">
            <a:alphaModFix/>
          </a:blip>
          <a:srcRect b="0" l="0" r="0" t="0"/>
          <a:stretch/>
        </p:blipFill>
        <p:spPr>
          <a:xfrm>
            <a:off x="6215062" y="3638550"/>
            <a:ext cx="209550" cy="219075"/>
          </a:xfrm>
          <a:prstGeom prst="rect">
            <a:avLst/>
          </a:prstGeom>
          <a:noFill/>
          <a:ln>
            <a:noFill/>
          </a:ln>
        </p:spPr>
      </p:pic>
      <p:sp>
        <p:nvSpPr>
          <p:cNvPr id="119" name="Google Shape;119;p15"/>
          <p:cNvSpPr txBox="1"/>
          <p:nvPr/>
        </p:nvSpPr>
        <p:spPr>
          <a:xfrm>
            <a:off x="762000" y="571500"/>
            <a:ext cx="11401425"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FFFFF"/>
                </a:solidFill>
                <a:latin typeface="Space Grotesk"/>
                <a:ea typeface="Space Grotesk"/>
                <a:cs typeface="Space Grotesk"/>
                <a:sym typeface="Space Grotesk"/>
              </a:rPr>
              <a:t>Quant Engine Mechanics</a:t>
            </a:r>
            <a:endParaRPr/>
          </a:p>
        </p:txBody>
      </p:sp>
      <p:sp>
        <p:nvSpPr>
          <p:cNvPr id="120" name="Google Shape;120;p15"/>
          <p:cNvSpPr/>
          <p:nvPr/>
        </p:nvSpPr>
        <p:spPr>
          <a:xfrm>
            <a:off x="571500" y="571500"/>
            <a:ext cx="47625" cy="457200"/>
          </a:xfrm>
          <a:prstGeom prst="rect">
            <a:avLst/>
          </a:prstGeom>
          <a:solidFill>
            <a:srgbClr val="48CA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B"/>
        </a:solidFill>
      </p:bgPr>
    </p:bg>
    <p:spTree>
      <p:nvGrpSpPr>
        <p:cNvPr id="124" name="Shape 124"/>
        <p:cNvGrpSpPr/>
        <p:nvPr/>
      </p:nvGrpSpPr>
      <p:grpSpPr>
        <a:xfrm>
          <a:off x="0" y="0"/>
          <a:ext cx="0" cy="0"/>
          <a:chOff x="0" y="0"/>
          <a:chExt cx="0" cy="0"/>
        </a:xfrm>
      </p:grpSpPr>
      <p:pic>
        <p:nvPicPr>
          <p:cNvPr descr="image.png" id="125" name="Google Shape;125;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6" name="Google Shape;126;p16"/>
          <p:cNvPicPr preferRelativeResize="0"/>
          <p:nvPr/>
        </p:nvPicPr>
        <p:blipFill rotWithShape="1">
          <a:blip r:embed="rId4">
            <a:alphaModFix/>
          </a:blip>
          <a:srcRect b="0" l="0" r="0" t="0"/>
          <a:stretch/>
        </p:blipFill>
        <p:spPr>
          <a:xfrm>
            <a:off x="571500" y="1314450"/>
            <a:ext cx="11049000" cy="4972050"/>
          </a:xfrm>
          <a:prstGeom prst="rect">
            <a:avLst/>
          </a:prstGeom>
          <a:noFill/>
          <a:ln>
            <a:noFill/>
          </a:ln>
        </p:spPr>
      </p:pic>
      <p:sp>
        <p:nvSpPr>
          <p:cNvPr id="127" name="Google Shape;127;p16"/>
          <p:cNvSpPr txBox="1"/>
          <p:nvPr/>
        </p:nvSpPr>
        <p:spPr>
          <a:xfrm>
            <a:off x="571500" y="4691062"/>
            <a:ext cx="11049000" cy="457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1125" u="none" cap="none" strike="noStrike">
                <a:solidFill>
                  <a:srgbClr val="94A3B8"/>
                </a:solidFill>
                <a:latin typeface="Inter"/>
                <a:ea typeface="Inter"/>
                <a:cs typeface="Inter"/>
                <a:sym typeface="Inter"/>
              </a:rPr>
              <a:t>Simulation demonstrates that systematic tactical allocation utilizing active sector rankings captures structural waves, generating clear alpha over static market index holdings.</a:t>
            </a:r>
            <a:endParaRPr/>
          </a:p>
        </p:txBody>
      </p:sp>
      <p:sp>
        <p:nvSpPr>
          <p:cNvPr id="128" name="Google Shape;128;p16"/>
          <p:cNvSpPr txBox="1"/>
          <p:nvPr/>
        </p:nvSpPr>
        <p:spPr>
          <a:xfrm>
            <a:off x="762000" y="571500"/>
            <a:ext cx="11401425"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FFFFF"/>
                </a:solidFill>
                <a:latin typeface="Space Grotesk"/>
                <a:ea typeface="Space Grotesk"/>
                <a:cs typeface="Space Grotesk"/>
                <a:sym typeface="Space Grotesk"/>
              </a:rPr>
              <a:t>Simulated Performance Edge</a:t>
            </a:r>
            <a:endParaRPr/>
          </a:p>
        </p:txBody>
      </p:sp>
      <p:sp>
        <p:nvSpPr>
          <p:cNvPr id="129" name="Google Shape;129;p16"/>
          <p:cNvSpPr/>
          <p:nvPr/>
        </p:nvSpPr>
        <p:spPr>
          <a:xfrm>
            <a:off x="571500" y="571500"/>
            <a:ext cx="47625" cy="457200"/>
          </a:xfrm>
          <a:prstGeom prst="rect">
            <a:avLst/>
          </a:prstGeom>
          <a:solidFill>
            <a:srgbClr val="48CA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B"/>
        </a:solidFill>
      </p:bgPr>
    </p:bg>
    <p:spTree>
      <p:nvGrpSpPr>
        <p:cNvPr id="133" name="Shape 133"/>
        <p:cNvGrpSpPr/>
        <p:nvPr/>
      </p:nvGrpSpPr>
      <p:grpSpPr>
        <a:xfrm>
          <a:off x="0" y="0"/>
          <a:ext cx="0" cy="0"/>
          <a:chOff x="0" y="0"/>
          <a:chExt cx="0" cy="0"/>
        </a:xfrm>
      </p:grpSpPr>
      <p:pic>
        <p:nvPicPr>
          <p:cNvPr descr="image.png" id="134" name="Google Shape;134;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5" name="Google Shape;135;p17"/>
          <p:cNvSpPr/>
          <p:nvPr/>
        </p:nvSpPr>
        <p:spPr>
          <a:xfrm>
            <a:off x="571500" y="3886200"/>
            <a:ext cx="11049000" cy="19050"/>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17"/>
          <p:cNvSpPr txBox="1"/>
          <p:nvPr/>
        </p:nvSpPr>
        <p:spPr>
          <a:xfrm>
            <a:off x="510733" y="4181475"/>
            <a:ext cx="2552193"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48CAE4"/>
                </a:solidFill>
                <a:latin typeface="Space Grotesk SemiBold"/>
                <a:ea typeface="Space Grotesk SemiBold"/>
                <a:cs typeface="Space Grotesk SemiBold"/>
                <a:sym typeface="Space Grotesk SemiBold"/>
              </a:rPr>
              <a:t>01 - Data Ingestion</a:t>
            </a:r>
            <a:endParaRPr/>
          </a:p>
        </p:txBody>
      </p:sp>
      <p:sp>
        <p:nvSpPr>
          <p:cNvPr id="137" name="Google Shape;137;p17"/>
          <p:cNvSpPr txBox="1"/>
          <p:nvPr/>
        </p:nvSpPr>
        <p:spPr>
          <a:xfrm>
            <a:off x="571500" y="4505325"/>
            <a:ext cx="2430660" cy="800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94A3B8"/>
                </a:solidFill>
                <a:latin typeface="Inter"/>
                <a:ea typeface="Inter"/>
                <a:cs typeface="Inter"/>
                <a:sym typeface="Inter"/>
              </a:rPr>
              <a:t>Wrote scraping pipelines to gather clean historic pricing, index weightings, and transaction volume data from NSE India.</a:t>
            </a:r>
            <a:endParaRPr/>
          </a:p>
        </p:txBody>
      </p:sp>
      <p:sp>
        <p:nvSpPr>
          <p:cNvPr id="138" name="Google Shape;138;p17"/>
          <p:cNvSpPr txBox="1"/>
          <p:nvPr/>
        </p:nvSpPr>
        <p:spPr>
          <a:xfrm>
            <a:off x="3383413" y="2486025"/>
            <a:ext cx="2552193"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48CAE4"/>
                </a:solidFill>
                <a:latin typeface="Space Grotesk SemiBold"/>
                <a:ea typeface="Space Grotesk SemiBold"/>
                <a:cs typeface="Space Grotesk SemiBold"/>
                <a:sym typeface="Space Grotesk SemiBold"/>
              </a:rPr>
              <a:t>02 - ETL Schema</a:t>
            </a:r>
            <a:endParaRPr/>
          </a:p>
        </p:txBody>
      </p:sp>
      <p:sp>
        <p:nvSpPr>
          <p:cNvPr id="139" name="Google Shape;139;p17"/>
          <p:cNvSpPr txBox="1"/>
          <p:nvPr/>
        </p:nvSpPr>
        <p:spPr>
          <a:xfrm>
            <a:off x="3444180" y="2809875"/>
            <a:ext cx="2430660" cy="800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94A3B8"/>
                </a:solidFill>
                <a:latin typeface="Inter"/>
                <a:ea typeface="Inter"/>
                <a:cs typeface="Inter"/>
                <a:sym typeface="Inter"/>
              </a:rPr>
              <a:t>Designed a robust star schema in Power Query, handling long-format macro factors and wide-format market variables.</a:t>
            </a:r>
            <a:endParaRPr/>
          </a:p>
        </p:txBody>
      </p:sp>
      <p:sp>
        <p:nvSpPr>
          <p:cNvPr id="140" name="Google Shape;140;p17"/>
          <p:cNvSpPr txBox="1"/>
          <p:nvPr/>
        </p:nvSpPr>
        <p:spPr>
          <a:xfrm>
            <a:off x="6256094" y="4181475"/>
            <a:ext cx="2552193"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48CAE4"/>
                </a:solidFill>
                <a:latin typeface="Space Grotesk SemiBold"/>
                <a:ea typeface="Space Grotesk SemiBold"/>
                <a:cs typeface="Space Grotesk SemiBold"/>
                <a:sym typeface="Space Grotesk SemiBold"/>
              </a:rPr>
              <a:t>03 - DAX Architecture</a:t>
            </a:r>
            <a:endParaRPr/>
          </a:p>
        </p:txBody>
      </p:sp>
      <p:sp>
        <p:nvSpPr>
          <p:cNvPr id="141" name="Google Shape;141;p17"/>
          <p:cNvSpPr txBox="1"/>
          <p:nvPr/>
        </p:nvSpPr>
        <p:spPr>
          <a:xfrm>
            <a:off x="6316860" y="4505325"/>
            <a:ext cx="2430660" cy="800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94A3B8"/>
                </a:solidFill>
                <a:latin typeface="Inter"/>
                <a:ea typeface="Inter"/>
                <a:cs typeface="Inter"/>
                <a:sym typeface="Inter"/>
              </a:rPr>
              <a:t>Engineered multi-layered calculation tables to capture daily structural decay, relative ranks, and event timelines.</a:t>
            </a:r>
            <a:endParaRPr/>
          </a:p>
        </p:txBody>
      </p:sp>
      <p:sp>
        <p:nvSpPr>
          <p:cNvPr id="142" name="Google Shape;142;p17"/>
          <p:cNvSpPr txBox="1"/>
          <p:nvPr/>
        </p:nvSpPr>
        <p:spPr>
          <a:xfrm>
            <a:off x="9128774" y="2486025"/>
            <a:ext cx="2552193"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48CAE4"/>
                </a:solidFill>
                <a:latin typeface="Space Grotesk SemiBold"/>
                <a:ea typeface="Space Grotesk SemiBold"/>
                <a:cs typeface="Space Grotesk SemiBold"/>
                <a:sym typeface="Space Grotesk SemiBold"/>
              </a:rPr>
              <a:t>04 - UX Layouts</a:t>
            </a:r>
            <a:endParaRPr/>
          </a:p>
        </p:txBody>
      </p:sp>
      <p:sp>
        <p:nvSpPr>
          <p:cNvPr id="143" name="Google Shape;143;p17"/>
          <p:cNvSpPr txBox="1"/>
          <p:nvPr/>
        </p:nvSpPr>
        <p:spPr>
          <a:xfrm>
            <a:off x="9189541" y="2809875"/>
            <a:ext cx="2430660" cy="800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94A3B8"/>
                </a:solidFill>
                <a:latin typeface="Inter"/>
                <a:ea typeface="Inter"/>
                <a:cs typeface="Inter"/>
                <a:sym typeface="Inter"/>
              </a:rPr>
              <a:t>Constructed dashboard interfaces optimizing information density—minimizing scroll fatigue while highlighting tactical plays.</a:t>
            </a:r>
            <a:endParaRPr/>
          </a:p>
        </p:txBody>
      </p:sp>
      <p:sp>
        <p:nvSpPr>
          <p:cNvPr id="144" name="Google Shape;144;p17"/>
          <p:cNvSpPr txBox="1"/>
          <p:nvPr/>
        </p:nvSpPr>
        <p:spPr>
          <a:xfrm>
            <a:off x="762000" y="571500"/>
            <a:ext cx="11401425"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FFFFF"/>
                </a:solidFill>
                <a:latin typeface="Space Grotesk"/>
                <a:ea typeface="Space Grotesk"/>
                <a:cs typeface="Space Grotesk"/>
                <a:sym typeface="Space Grotesk"/>
              </a:rPr>
              <a:t>System Execution Phases</a:t>
            </a:r>
            <a:endParaRPr/>
          </a:p>
        </p:txBody>
      </p:sp>
      <p:sp>
        <p:nvSpPr>
          <p:cNvPr id="145" name="Google Shape;145;p17"/>
          <p:cNvSpPr/>
          <p:nvPr/>
        </p:nvSpPr>
        <p:spPr>
          <a:xfrm>
            <a:off x="571500" y="571500"/>
            <a:ext cx="47625" cy="457200"/>
          </a:xfrm>
          <a:prstGeom prst="rect">
            <a:avLst/>
          </a:prstGeom>
          <a:solidFill>
            <a:srgbClr val="48CA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17"/>
          <p:cNvSpPr/>
          <p:nvPr/>
        </p:nvSpPr>
        <p:spPr>
          <a:xfrm>
            <a:off x="1710630" y="3819525"/>
            <a:ext cx="152400" cy="152400"/>
          </a:xfrm>
          <a:prstGeom prst="roundRect">
            <a:avLst>
              <a:gd fmla="val 50000" name="adj"/>
            </a:avLst>
          </a:prstGeom>
          <a:solidFill>
            <a:srgbClr val="0B132B"/>
          </a:solidFill>
          <a:ln cap="flat" cmpd="sng" w="38100">
            <a:solidFill>
              <a:srgbClr val="48CA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17"/>
          <p:cNvSpPr/>
          <p:nvPr/>
        </p:nvSpPr>
        <p:spPr>
          <a:xfrm>
            <a:off x="4583310" y="3819525"/>
            <a:ext cx="152400" cy="152400"/>
          </a:xfrm>
          <a:prstGeom prst="roundRect">
            <a:avLst>
              <a:gd fmla="val 50000" name="adj"/>
            </a:avLst>
          </a:prstGeom>
          <a:solidFill>
            <a:srgbClr val="0B132B"/>
          </a:solidFill>
          <a:ln cap="flat" cmpd="sng" w="38100">
            <a:solidFill>
              <a:srgbClr val="48CA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8" name="Google Shape;148;p17"/>
          <p:cNvSpPr/>
          <p:nvPr/>
        </p:nvSpPr>
        <p:spPr>
          <a:xfrm>
            <a:off x="7455991" y="3819525"/>
            <a:ext cx="152400" cy="152400"/>
          </a:xfrm>
          <a:prstGeom prst="roundRect">
            <a:avLst>
              <a:gd fmla="val 50000" name="adj"/>
            </a:avLst>
          </a:prstGeom>
          <a:solidFill>
            <a:srgbClr val="0B132B"/>
          </a:solidFill>
          <a:ln cap="flat" cmpd="sng" w="38100">
            <a:solidFill>
              <a:srgbClr val="48CA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17"/>
          <p:cNvSpPr/>
          <p:nvPr/>
        </p:nvSpPr>
        <p:spPr>
          <a:xfrm>
            <a:off x="10328671" y="3819525"/>
            <a:ext cx="152400" cy="152400"/>
          </a:xfrm>
          <a:prstGeom prst="roundRect">
            <a:avLst>
              <a:gd fmla="val 50000" name="adj"/>
            </a:avLst>
          </a:prstGeom>
          <a:solidFill>
            <a:srgbClr val="0B132B"/>
          </a:solidFill>
          <a:ln cap="flat" cmpd="sng" w="38100">
            <a:solidFill>
              <a:srgbClr val="48CA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B"/>
        </a:solidFill>
      </p:bgPr>
    </p:bg>
    <p:spTree>
      <p:nvGrpSpPr>
        <p:cNvPr id="153" name="Shape 153"/>
        <p:cNvGrpSpPr/>
        <p:nvPr/>
      </p:nvGrpSpPr>
      <p:grpSpPr>
        <a:xfrm>
          <a:off x="0" y="0"/>
          <a:ext cx="0" cy="0"/>
          <a:chOff x="0" y="0"/>
          <a:chExt cx="0" cy="0"/>
        </a:xfrm>
      </p:grpSpPr>
      <p:pic>
        <p:nvPicPr>
          <p:cNvPr descr="image.png" id="154" name="Google Shape;154;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5" name="Google Shape;155;p18"/>
          <p:cNvPicPr preferRelativeResize="0"/>
          <p:nvPr/>
        </p:nvPicPr>
        <p:blipFill rotWithShape="1">
          <a:blip r:embed="rId4">
            <a:alphaModFix/>
          </a:blip>
          <a:srcRect b="0" l="0" r="0" t="0"/>
          <a:stretch/>
        </p:blipFill>
        <p:spPr>
          <a:xfrm>
            <a:off x="571500" y="2047875"/>
            <a:ext cx="11049000" cy="3505200"/>
          </a:xfrm>
          <a:prstGeom prst="rect">
            <a:avLst/>
          </a:prstGeom>
          <a:noFill/>
          <a:ln>
            <a:noFill/>
          </a:ln>
        </p:spPr>
      </p:pic>
      <p:graphicFrame>
        <p:nvGraphicFramePr>
          <p:cNvPr id="156" name="Google Shape;156;p18"/>
          <p:cNvGraphicFramePr/>
          <p:nvPr/>
        </p:nvGraphicFramePr>
        <p:xfrm>
          <a:off x="581025" y="2057400"/>
          <a:ext cx="3000000" cy="3000000"/>
        </p:xfrm>
        <a:graphic>
          <a:graphicData uri="http://schemas.openxmlformats.org/drawingml/2006/table">
            <a:tbl>
              <a:tblPr bandRow="1" firstRow="1">
                <a:noFill/>
                <a:tableStyleId>{57457A15-1B19-4E13-B312-4F9E11C3CB96}</a:tableStyleId>
              </a:tblPr>
              <a:tblGrid>
                <a:gridCol w="2686050"/>
                <a:gridCol w="1646175"/>
                <a:gridCol w="1938050"/>
                <a:gridCol w="4759675"/>
              </a:tblGrid>
              <a:tr h="697225">
                <a:tc>
                  <a:txBody>
                    <a:bodyPr/>
                    <a:lstStyle/>
                    <a:p>
                      <a:pPr indent="0" lvl="0" marL="0" marR="0" rtl="0" algn="l">
                        <a:spcBef>
                          <a:spcPts val="0"/>
                        </a:spcBef>
                        <a:spcAft>
                          <a:spcPts val="0"/>
                        </a:spcAft>
                        <a:buNone/>
                      </a:pPr>
                      <a:r>
                        <a:rPr b="0" i="0" lang="en-US" sz="1200" u="none" cap="none" strike="noStrike">
                          <a:solidFill>
                            <a:srgbClr val="FFFFFF"/>
                          </a:solidFill>
                          <a:latin typeface="Space Grotesk SemiBold"/>
                          <a:ea typeface="Space Grotesk SemiBold"/>
                          <a:cs typeface="Space Grotesk SemiBold"/>
                          <a:sym typeface="Space Grotesk SemiBold"/>
                        </a:rPr>
                        <a:t>Data Asset / Table Name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8CAE4"/>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Space Grotesk SemiBold"/>
                          <a:ea typeface="Space Grotesk SemiBold"/>
                          <a:cs typeface="Space Grotesk SemiBold"/>
                          <a:sym typeface="Space Grotesk SemiBold"/>
                        </a:rPr>
                        <a:t>Schema Format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8CAE4"/>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Space Grotesk SemiBold"/>
                          <a:ea typeface="Space Grotesk SemiBold"/>
                          <a:cs typeface="Space Grotesk SemiBold"/>
                          <a:sym typeface="Space Grotesk SemiBold"/>
                        </a:rPr>
                        <a:t>Primary Relational Key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8CAE4"/>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Space Grotesk SemiBold"/>
                          <a:ea typeface="Space Grotesk SemiBold"/>
                          <a:cs typeface="Space Grotesk SemiBold"/>
                          <a:sym typeface="Space Grotesk SemiBold"/>
                        </a:rPr>
                        <a:t>Strategic Business Function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8CAE4"/>
                    </a:solidFill>
                  </a:tcPr>
                </a:tc>
              </a:tr>
              <a:tr h="697225">
                <a:tc>
                  <a:txBody>
                    <a:bodyPr/>
                    <a:lstStyle/>
                    <a:p>
                      <a:pPr indent="0" lvl="0" marL="0" marR="0" rtl="0" algn="l">
                        <a:lnSpc>
                          <a:spcPct val="100000"/>
                        </a:lnSpc>
                        <a:spcBef>
                          <a:spcPts val="0"/>
                        </a:spcBef>
                        <a:spcAft>
                          <a:spcPts val="0"/>
                        </a:spcAft>
                        <a:buNone/>
                      </a:pPr>
                      <a:r>
                        <a:rPr lang="en-US" sz="1200">
                          <a:solidFill>
                            <a:srgbClr val="F8FAFC"/>
                          </a:solidFill>
                          <a:latin typeface="Inter"/>
                          <a:ea typeface="Inter"/>
                          <a:cs typeface="Inter"/>
                          <a:sym typeface="Inter"/>
                        </a:rPr>
                        <a:t>nse_sector_composite_scores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0" i="0" lang="en-US" sz="1200" u="none" cap="none" strike="noStrike">
                          <a:solidFill>
                            <a:srgbClr val="F8FAFC"/>
                          </a:solidFill>
                          <a:latin typeface="Inter"/>
                          <a:ea typeface="Inter"/>
                          <a:cs typeface="Inter"/>
                          <a:sym typeface="Inter"/>
                        </a:rPr>
                        <a:t>Wide Flat Table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0" i="0" lang="en-US" sz="1200" u="none" cap="none" strike="noStrike">
                          <a:solidFill>
                            <a:srgbClr val="F8FAFC"/>
                          </a:solidFill>
                          <a:latin typeface="Inter"/>
                          <a:ea typeface="Inter"/>
                          <a:cs typeface="Inter"/>
                          <a:sym typeface="Inter"/>
                        </a:rPr>
                        <a:t>`Date` + `Sector_ID`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0" i="0" lang="en-US" sz="1200" u="none" cap="none" strike="noStrike">
                          <a:solidFill>
                            <a:srgbClr val="F8FAFC"/>
                          </a:solidFill>
                          <a:latin typeface="Inter"/>
                          <a:ea typeface="Inter"/>
                          <a:cs typeface="Inter"/>
                          <a:sym typeface="Inter"/>
                        </a:rPr>
                        <a:t>Computes daily cross-sectional ranking indices and momentum heights.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697225">
                <a:tc>
                  <a:txBody>
                    <a:bodyPr/>
                    <a:lstStyle/>
                    <a:p>
                      <a:pPr indent="0" lvl="0" marL="0" marR="0" rtl="0" algn="l">
                        <a:spcBef>
                          <a:spcPts val="0"/>
                        </a:spcBef>
                        <a:spcAft>
                          <a:spcPts val="0"/>
                        </a:spcAft>
                        <a:buNone/>
                      </a:pPr>
                      <a:r>
                        <a:rPr b="1" i="0" lang="en-US" sz="1200" u="none" cap="none" strike="noStrike">
                          <a:solidFill>
                            <a:srgbClr val="F8FAFC"/>
                          </a:solidFill>
                          <a:latin typeface="Inter"/>
                          <a:ea typeface="Inter"/>
                          <a:cs typeface="Inter"/>
                          <a:sym typeface="Inter"/>
                        </a:rPr>
                        <a:t>nse_macro_rotation_overlay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0" i="0" lang="en-US" sz="1200" u="none" cap="none" strike="noStrike">
                          <a:solidFill>
                            <a:srgbClr val="F8FAFC"/>
                          </a:solidFill>
                          <a:latin typeface="Inter"/>
                          <a:ea typeface="Inter"/>
                          <a:cs typeface="Inter"/>
                          <a:sym typeface="Inter"/>
                        </a:rPr>
                        <a:t>Long Event Table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0" i="0" lang="en-US" sz="1200" u="none" cap="none" strike="noStrike">
                          <a:solidFill>
                            <a:srgbClr val="F8FAFC"/>
                          </a:solidFill>
                          <a:latin typeface="Inter"/>
                          <a:ea typeface="Inter"/>
                          <a:cs typeface="Inter"/>
                          <a:sym typeface="Inter"/>
                        </a:rPr>
                        <a:t>`Catalyst_Date`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0" i="0" lang="en-US" sz="1200" u="none" cap="none" strike="noStrike">
                          <a:solidFill>
                            <a:srgbClr val="F8FAFC"/>
                          </a:solidFill>
                          <a:latin typeface="Inter"/>
                          <a:ea typeface="Inter"/>
                          <a:cs typeface="Inter"/>
                          <a:sym typeface="Inter"/>
                        </a:rPr>
                        <a:t>Houses historical calendar occurrences (RBI rate adjustments, budget drops).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697225">
                <a:tc>
                  <a:txBody>
                    <a:bodyPr/>
                    <a:lstStyle/>
                    <a:p>
                      <a:pPr indent="0" lvl="0" marL="0" marR="0" rtl="0" algn="l">
                        <a:spcBef>
                          <a:spcPts val="0"/>
                        </a:spcBef>
                        <a:spcAft>
                          <a:spcPts val="0"/>
                        </a:spcAft>
                        <a:buNone/>
                      </a:pPr>
                      <a:r>
                        <a:rPr b="1" i="0" lang="en-US" sz="1200" u="none" cap="none" strike="noStrike">
                          <a:solidFill>
                            <a:srgbClr val="F8FAFC"/>
                          </a:solidFill>
                          <a:latin typeface="Inter"/>
                          <a:ea typeface="Inter"/>
                          <a:cs typeface="Inter"/>
                          <a:sym typeface="Inter"/>
                        </a:rPr>
                        <a:t>nse_sector_data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0" i="0" lang="en-US" sz="1200" u="none" cap="none" strike="noStrike">
                          <a:solidFill>
                            <a:srgbClr val="F8FAFC"/>
                          </a:solidFill>
                          <a:latin typeface="Inter"/>
                          <a:ea typeface="Inter"/>
                          <a:cs typeface="Inter"/>
                          <a:sym typeface="Inter"/>
                        </a:rPr>
                        <a:t>Timeseries Wide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0" i="0" lang="en-US" sz="1200" u="none" cap="none" strike="noStrike">
                          <a:solidFill>
                            <a:srgbClr val="F8FAFC"/>
                          </a:solidFill>
                          <a:latin typeface="Inter"/>
                          <a:ea typeface="Inter"/>
                          <a:cs typeface="Inter"/>
                          <a:sym typeface="Inter"/>
                        </a:rPr>
                        <a:t>`Date`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0" i="0" lang="en-US" sz="1200" u="none" cap="none" strike="noStrike">
                          <a:solidFill>
                            <a:srgbClr val="F8FAFC"/>
                          </a:solidFill>
                          <a:latin typeface="Inter"/>
                          <a:ea typeface="Inter"/>
                          <a:cs typeface="Inter"/>
                          <a:sym typeface="Inter"/>
                        </a:rPr>
                        <a:t>Stores raw historical index close metrics to support backtesting validation.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697225">
                <a:tc>
                  <a:txBody>
                    <a:bodyPr/>
                    <a:lstStyle/>
                    <a:p>
                      <a:pPr indent="0" lvl="0" marL="0" marR="0" rtl="0" algn="l">
                        <a:spcBef>
                          <a:spcPts val="0"/>
                        </a:spcBef>
                        <a:spcAft>
                          <a:spcPts val="0"/>
                        </a:spcAft>
                        <a:buNone/>
                      </a:pPr>
                      <a:r>
                        <a:rPr b="1" i="0" lang="en-US" sz="1200" u="none" cap="none" strike="noStrike">
                          <a:solidFill>
                            <a:srgbClr val="F8FAFC"/>
                          </a:solidFill>
                          <a:latin typeface="Inter"/>
                          <a:ea typeface="Inter"/>
                          <a:cs typeface="Inter"/>
                          <a:sym typeface="Inter"/>
                        </a:rPr>
                        <a:t>nse_sector_signals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0" i="0" lang="en-US" sz="1200" u="none" cap="none" strike="noStrike">
                          <a:solidFill>
                            <a:srgbClr val="F8FAFC"/>
                          </a:solidFill>
                          <a:latin typeface="Inter"/>
                          <a:ea typeface="Inter"/>
                          <a:cs typeface="Inter"/>
                          <a:sym typeface="Inter"/>
                        </a:rPr>
                        <a:t>Normalized Keyed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0" i="0" lang="en-US" sz="1200" u="none" cap="none" strike="noStrike">
                          <a:solidFill>
                            <a:srgbClr val="F8FAFC"/>
                          </a:solidFill>
                          <a:latin typeface="Inter"/>
                          <a:ea typeface="Inter"/>
                          <a:cs typeface="Inter"/>
                          <a:sym typeface="Inter"/>
                        </a:rPr>
                        <a:t>`Sector_ID`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0" i="0" lang="en-US" sz="1200" u="none" cap="none" strike="noStrike">
                          <a:solidFill>
                            <a:srgbClr val="F8FAFC"/>
                          </a:solidFill>
                          <a:latin typeface="Inter"/>
                          <a:ea typeface="Inter"/>
                          <a:cs typeface="Inter"/>
                          <a:sym typeface="Inter"/>
                        </a:rPr>
                        <a:t>Maps individual asset classification groups and industry groupings.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bl>
          </a:graphicData>
        </a:graphic>
      </p:graphicFrame>
      <p:sp>
        <p:nvSpPr>
          <p:cNvPr id="157" name="Google Shape;157;p18"/>
          <p:cNvSpPr/>
          <p:nvPr/>
        </p:nvSpPr>
        <p:spPr>
          <a:xfrm>
            <a:off x="581025" y="2757487"/>
            <a:ext cx="2686050" cy="9525"/>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18"/>
          <p:cNvSpPr/>
          <p:nvPr/>
        </p:nvSpPr>
        <p:spPr>
          <a:xfrm>
            <a:off x="3267075" y="2757487"/>
            <a:ext cx="1646187" cy="9525"/>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8"/>
          <p:cNvSpPr/>
          <p:nvPr/>
        </p:nvSpPr>
        <p:spPr>
          <a:xfrm>
            <a:off x="4913262" y="2757487"/>
            <a:ext cx="1938039" cy="9525"/>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18"/>
          <p:cNvSpPr/>
          <p:nvPr/>
        </p:nvSpPr>
        <p:spPr>
          <a:xfrm>
            <a:off x="6851302" y="2757487"/>
            <a:ext cx="4759672" cy="9525"/>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8"/>
          <p:cNvSpPr/>
          <p:nvPr/>
        </p:nvSpPr>
        <p:spPr>
          <a:xfrm>
            <a:off x="581025" y="3452812"/>
            <a:ext cx="2686050" cy="9525"/>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8"/>
          <p:cNvSpPr/>
          <p:nvPr/>
        </p:nvSpPr>
        <p:spPr>
          <a:xfrm>
            <a:off x="3267075" y="3452812"/>
            <a:ext cx="1646187" cy="9525"/>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8"/>
          <p:cNvSpPr/>
          <p:nvPr/>
        </p:nvSpPr>
        <p:spPr>
          <a:xfrm>
            <a:off x="4913262" y="3452812"/>
            <a:ext cx="1938039" cy="9525"/>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18"/>
          <p:cNvSpPr/>
          <p:nvPr/>
        </p:nvSpPr>
        <p:spPr>
          <a:xfrm>
            <a:off x="6851302" y="3452812"/>
            <a:ext cx="4759672" cy="9525"/>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18"/>
          <p:cNvSpPr/>
          <p:nvPr/>
        </p:nvSpPr>
        <p:spPr>
          <a:xfrm>
            <a:off x="581025" y="4148137"/>
            <a:ext cx="2686050" cy="9525"/>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18"/>
          <p:cNvSpPr/>
          <p:nvPr/>
        </p:nvSpPr>
        <p:spPr>
          <a:xfrm>
            <a:off x="3267075" y="4148137"/>
            <a:ext cx="1646187" cy="9525"/>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18"/>
          <p:cNvSpPr/>
          <p:nvPr/>
        </p:nvSpPr>
        <p:spPr>
          <a:xfrm>
            <a:off x="4913262" y="4148137"/>
            <a:ext cx="1938039" cy="9525"/>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18"/>
          <p:cNvSpPr/>
          <p:nvPr/>
        </p:nvSpPr>
        <p:spPr>
          <a:xfrm>
            <a:off x="6851302" y="4148137"/>
            <a:ext cx="4759672" cy="9525"/>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8"/>
          <p:cNvSpPr/>
          <p:nvPr/>
        </p:nvSpPr>
        <p:spPr>
          <a:xfrm>
            <a:off x="581025" y="4843462"/>
            <a:ext cx="2686050" cy="9525"/>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18"/>
          <p:cNvSpPr/>
          <p:nvPr/>
        </p:nvSpPr>
        <p:spPr>
          <a:xfrm>
            <a:off x="3267075" y="4843462"/>
            <a:ext cx="1646187" cy="9525"/>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18"/>
          <p:cNvSpPr/>
          <p:nvPr/>
        </p:nvSpPr>
        <p:spPr>
          <a:xfrm>
            <a:off x="4913262" y="4843462"/>
            <a:ext cx="1938039" cy="9525"/>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8"/>
          <p:cNvSpPr/>
          <p:nvPr/>
        </p:nvSpPr>
        <p:spPr>
          <a:xfrm>
            <a:off x="6851302" y="4843462"/>
            <a:ext cx="4759672" cy="9525"/>
          </a:xfrm>
          <a:prstGeom prst="rect">
            <a:avLst/>
          </a:prstGeom>
          <a:solidFill>
            <a:srgbClr val="3A506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8"/>
          <p:cNvSpPr txBox="1"/>
          <p:nvPr/>
        </p:nvSpPr>
        <p:spPr>
          <a:xfrm>
            <a:off x="762000" y="571500"/>
            <a:ext cx="11401425"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FFFFFF"/>
                </a:solidFill>
                <a:latin typeface="Space Grotesk"/>
                <a:ea typeface="Space Grotesk"/>
                <a:cs typeface="Space Grotesk"/>
                <a:sym typeface="Space Grotesk"/>
              </a:rPr>
              <a:t>System Schema Architecture</a:t>
            </a:r>
            <a:endParaRPr/>
          </a:p>
        </p:txBody>
      </p:sp>
      <p:sp>
        <p:nvSpPr>
          <p:cNvPr id="174" name="Google Shape;174;p18"/>
          <p:cNvSpPr/>
          <p:nvPr/>
        </p:nvSpPr>
        <p:spPr>
          <a:xfrm>
            <a:off x="571500" y="571500"/>
            <a:ext cx="47625" cy="457200"/>
          </a:xfrm>
          <a:prstGeom prst="rect">
            <a:avLst/>
          </a:prstGeom>
          <a:solidFill>
            <a:srgbClr val="48CA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B"/>
        </a:solidFill>
      </p:bgPr>
    </p:bg>
    <p:spTree>
      <p:nvGrpSpPr>
        <p:cNvPr id="178" name="Shape 178"/>
        <p:cNvGrpSpPr/>
        <p:nvPr/>
      </p:nvGrpSpPr>
      <p:grpSpPr>
        <a:xfrm>
          <a:off x="0" y="0"/>
          <a:ext cx="0" cy="0"/>
          <a:chOff x="0" y="0"/>
          <a:chExt cx="0" cy="0"/>
        </a:xfrm>
      </p:grpSpPr>
      <p:pic>
        <p:nvPicPr>
          <p:cNvPr descr="image.png" id="179" name="Google Shape;179;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0" name="Google Shape;180;p19"/>
          <p:cNvSpPr txBox="1"/>
          <p:nvPr/>
        </p:nvSpPr>
        <p:spPr>
          <a:xfrm>
            <a:off x="1845468" y="2212627"/>
            <a:ext cx="8501062" cy="581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600" u="none" cap="none" strike="noStrike">
                <a:solidFill>
                  <a:srgbClr val="FFFFFF"/>
                </a:solidFill>
                <a:latin typeface="Space Grotesk"/>
                <a:ea typeface="Space Grotesk"/>
                <a:cs typeface="Space Grotesk"/>
                <a:sym typeface="Space Grotesk"/>
              </a:rPr>
              <a:t>Explore the Model Architecture</a:t>
            </a:r>
            <a:endParaRPr/>
          </a:p>
        </p:txBody>
      </p:sp>
      <p:sp>
        <p:nvSpPr>
          <p:cNvPr id="181" name="Google Shape;181;p19"/>
          <p:cNvSpPr txBox="1"/>
          <p:nvPr/>
        </p:nvSpPr>
        <p:spPr>
          <a:xfrm>
            <a:off x="2047875" y="2984152"/>
            <a:ext cx="8096250"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94A3B8"/>
                </a:solidFill>
                <a:latin typeface="Inter"/>
                <a:ea typeface="Inter"/>
                <a:cs typeface="Inter"/>
                <a:sym typeface="Inter"/>
              </a:rPr>
              <a:t>The entire quantitative engine is completely open-source and structured for localized replication. You can clone the project directly, inspect the dynamic DAX measures, audit the schema relations, and adapt the underlying ETL queries for your own financial pipelines.</a:t>
            </a:r>
            <a:endParaRPr/>
          </a:p>
        </p:txBody>
      </p:sp>
      <p:sp>
        <p:nvSpPr>
          <p:cNvPr id="182" name="Google Shape;182;p19"/>
          <p:cNvSpPr/>
          <p:nvPr/>
        </p:nvSpPr>
        <p:spPr>
          <a:xfrm>
            <a:off x="4305300" y="4140398"/>
            <a:ext cx="3581400" cy="504825"/>
          </a:xfrm>
          <a:prstGeom prst="roundRect">
            <a:avLst>
              <a:gd fmla="val 15094" name="adj"/>
            </a:avLst>
          </a:prstGeom>
          <a:solidFill>
            <a:srgbClr val="1C2541"/>
          </a:solidFill>
          <a:ln cap="flat" cmpd="sng" w="9525">
            <a:solidFill>
              <a:srgbClr val="48CA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19"/>
          <p:cNvSpPr txBox="1"/>
          <p:nvPr/>
        </p:nvSpPr>
        <p:spPr>
          <a:xfrm>
            <a:off x="4848225" y="4184426"/>
            <a:ext cx="2771700" cy="415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1350" u="none" cap="none" strike="noStrike">
                <a:solidFill>
                  <a:srgbClr val="FFFFFF"/>
                </a:solidFill>
                <a:latin typeface="Space Grotesk SemiBold"/>
                <a:ea typeface="Space Grotesk SemiBold"/>
                <a:cs typeface="Space Grotesk SemiBold"/>
                <a:sym typeface="Space Grotesk SemiBold"/>
              </a:rPr>
              <a:t> </a:t>
            </a:r>
            <a:r>
              <a:rPr b="0" i="0" lang="en-US" sz="1350" u="sng" cap="none" strike="noStrike">
                <a:solidFill>
                  <a:schemeClr val="hlink"/>
                </a:solidFill>
                <a:latin typeface="Space Grotesk SemiBold"/>
                <a:ea typeface="Space Grotesk SemiBold"/>
                <a:cs typeface="Space Grotesk SemiBold"/>
                <a:sym typeface="Space Grotesk SemiBold"/>
                <a:hlinkClick r:id="rId4"/>
              </a:rPr>
              <a:t>Run the Engine Locally on GitHub</a:t>
            </a:r>
            <a:endParaRPr/>
          </a:p>
        </p:txBody>
      </p:sp>
      <p:pic>
        <p:nvPicPr>
          <p:cNvPr descr="image.png" id="184" name="Google Shape;184;p19"/>
          <p:cNvPicPr preferRelativeResize="0"/>
          <p:nvPr/>
        </p:nvPicPr>
        <p:blipFill rotWithShape="1">
          <a:blip r:embed="rId5">
            <a:alphaModFix/>
          </a:blip>
          <a:srcRect b="0" l="0" r="0" t="0"/>
          <a:stretch/>
        </p:blipFill>
        <p:spPr>
          <a:xfrm>
            <a:off x="4581525" y="4307085"/>
            <a:ext cx="161925" cy="171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